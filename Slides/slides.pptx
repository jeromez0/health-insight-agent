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0A1F44"/>
                </a:solidFill>
                <a:latin typeface="Helvetica Neue"/>
              </a:rPr>
              <a:t>Health Insight Agent</a:t>
            </a:r>
          </a:p>
          <a:p>
            <a:pPr algn="l">
              <a:spcBef>
                <a:spcPts val="2000"/>
              </a:spcBef>
              <a:spcAft>
                <a:spcPts val="600"/>
              </a:spcAft>
            </a:pPr>
            <a:r>
              <a:rPr sz="2200" b="0">
                <a:solidFill>
                  <a:srgbClr val="1C1C1E"/>
                </a:solidFill>
                <a:latin typeface="Helvetica Neue"/>
              </a:rPr>
              <a:t>A Multi-Agent LLM Architecture for Personal Longitudinal Health Data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C1C1E"/>
                </a:solidFill>
                <a:latin typeface="Helvetica Neue"/>
              </a:rPr>
              <a:t>Jerome Zhang</a:t>
            </a:r>
            <a:r>
              <a:rPr sz="1800" b="0">
                <a:solidFill>
                  <a:srgbClr val="6B6B70"/>
                </a:solidFill>
                <a:latin typeface="Helvetica Neue"/>
              </a:rPr>
              <a:t>   ·   MSAI High-Risk Project   · 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164592" bIns="0"/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A1F44"/>
                </a:solidFill>
                <a:latin typeface="Helvetica Neue"/>
              </a:rPr>
              <a:t>Personal health data is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06EE6"/>
                </a:solidFill>
                <a:latin typeface="Helvetica Neue"/>
              </a:rPr>
              <a:t>•  </a:t>
            </a:r>
            <a:r>
              <a:rPr sz="1800" b="0">
                <a:solidFill>
                  <a:srgbClr val="1C1C1E"/>
                </a:solidFill>
                <a:latin typeface="Helvetica Neue"/>
              </a:rPr>
              <a:t>Wearables capture biometrics (HRV, sleep, body battery)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06EE6"/>
                </a:solidFill>
                <a:latin typeface="Helvetica Neue"/>
              </a:rPr>
              <a:t>•  </a:t>
            </a:r>
            <a:r>
              <a:rPr sz="1800" b="0">
                <a:solidFill>
                  <a:srgbClr val="1C1C1E"/>
                </a:solidFill>
                <a:latin typeface="Helvetica Neue"/>
              </a:rPr>
              <a:t>Food apps track nutrition (macros, micros)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06EE6"/>
                </a:solidFill>
                <a:latin typeface="Helvetica Neue"/>
              </a:rPr>
              <a:t>•  </a:t>
            </a:r>
            <a:r>
              <a:rPr sz="1800" b="0">
                <a:solidFill>
                  <a:srgbClr val="1C1C1E"/>
                </a:solidFill>
                <a:latin typeface="Helvetica Neue"/>
              </a:rPr>
              <a:t>Training journals log resistance work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800" b="0">
                <a:solidFill>
                  <a:srgbClr val="1C1C1E"/>
                </a:solidFill>
                <a:latin typeface="Helvetica Neue"/>
              </a:rPr>
              <a:t>    </a:t>
            </a:r>
            <a:r>
              <a:rPr sz="1800" b="0">
                <a:solidFill>
                  <a:srgbClr val="6B6B70"/>
                </a:solidFill>
                <a:latin typeface="Helvetica Neue"/>
              </a:rPr>
              <a:t>…but no system unifies them into actionable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A1F44"/>
                </a:solidFill>
                <a:latin typeface="Helvetica Neue"/>
              </a:rPr>
              <a:t>Existing LLM approaches use single-shot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06EE6"/>
                </a:solidFill>
                <a:latin typeface="Helvetica Neue"/>
              </a:rPr>
              <a:t>•  </a:t>
            </a:r>
            <a:r>
              <a:rPr sz="1800" b="0">
                <a:solidFill>
                  <a:srgbClr val="1C1C1E"/>
                </a:solidFill>
                <a:latin typeface="Helvetica Neue"/>
              </a:rPr>
              <a:t>Dump everything into one prompt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06EE6"/>
                </a:solidFill>
                <a:latin typeface="Helvetica Neue"/>
              </a:rPr>
              <a:t>•  </a:t>
            </a:r>
            <a:r>
              <a:rPr sz="1800" b="0">
                <a:solidFill>
                  <a:srgbClr val="1C1C1E"/>
                </a:solidFill>
                <a:latin typeface="Helvetica Neue"/>
              </a:rPr>
              <a:t>Ask the LLM to figure it out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06EE6"/>
                </a:solidFill>
                <a:latin typeface="Helvetica Neue"/>
              </a:rPr>
              <a:t>•  </a:t>
            </a:r>
            <a:r>
              <a:rPr sz="1800" b="0">
                <a:solidFill>
                  <a:srgbClr val="1C1C1E"/>
                </a:solidFill>
                <a:latin typeface="Helvetica Neue"/>
              </a:rPr>
              <a:t>Generic, ungrounded outputs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06EE6"/>
                </a:solidFill>
                <a:latin typeface="Helvetica Neue"/>
              </a:rPr>
              <a:t>•  </a:t>
            </a:r>
            <a:r>
              <a:rPr sz="1800" b="0">
                <a:solidFill>
                  <a:srgbClr val="1C1C1E"/>
                </a:solidFill>
                <a:latin typeface="Helvetica Neue"/>
              </a:rPr>
              <a:t>Hidden cross-domain disagreements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100" b="0">
                <a:solidFill>
                  <a:srgbClr val="6B6B70"/>
                </a:solidFill>
                <a:latin typeface="Helvetica Neue"/>
              </a:rPr>
              <a:t>Health Insight Agent  ·  Slide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164592" bIns="0"/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0332720" cy="210312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200" b="1">
                <a:solidFill>
                  <a:srgbClr val="0A1F44"/>
                </a:solidFill>
                <a:latin typeface="Helvetica Neue"/>
              </a:rPr>
              <a:t>Does a multi-agent LLM architecture produce more grounded, domain-specific health insights than single-shot LLM prompting on identical longitudinal personal health data?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9728" cy="2103120"/>
          </a:xfrm>
          <a:prstGeom prst="rect">
            <a:avLst/>
          </a:prstGeom>
          <a:solidFill>
            <a:srgbClr val="00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6B6B70"/>
                </a:solidFill>
                <a:latin typeface="Helvetica Neue"/>
              </a:rPr>
              <a:t>Approach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>
                <a:solidFill>
                  <a:srgbClr val="1C1C1E"/>
                </a:solidFill>
                <a:latin typeface="Helvetica Neue"/>
              </a:rPr>
              <a:t>Build both. Compare side-by-side. Measure what differs.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100" b="0">
                <a:solidFill>
                  <a:srgbClr val="6B6B70"/>
                </a:solidFill>
                <a:latin typeface="Helvetica Neue"/>
              </a:rPr>
              <a:t>Health Insight Agent  ·  Slide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164592" bIns="0"/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Method —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solidFill>
            <a:srgbClr val="F2F2F7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rIns="228600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C1C1E"/>
                </a:solidFill>
                <a:latin typeface="Menlo"/>
              </a:rPr>
              <a:t>                    7-Day Personal Health Data
              (Macros + Workouts + Garmin biometrics)
                              │
       ┌──────────────────────┼──────────────────────┐
       ▼                      ▼                      ▼
  ┌─────────┐           ┌──────────┐          ┌──────────┐
  │Nutrition│           │ Training │          │ Recovery │       Stage 1
  │  Agent  │           │  Agent   │          │  Agent   │      (parallel)
  └─────┬───┘           └─────┬────┘          └─────┬────┘
        │                     │                     │
        └─────────────────────┼─────────────────────┘
                              ▼
                      ┌──────────────┐
                      │ Orchestrator │                          Stage 2
                      │    Agent     │
                      └──────┬───────┘
                             ▼
                    3-5 Cross-Domain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0"/>
            <a:ext cx="3291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A1F44"/>
                </a:solidFill>
                <a:latin typeface="Helvetica Neue"/>
              </a:rPr>
              <a:t>Single-shot mode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0">
                <a:solidFill>
                  <a:srgbClr val="1C1C1E"/>
                </a:solidFill>
                <a:latin typeface="Helvetica Neue"/>
              </a:rPr>
              <a:t>1 LLM call. All data. Direct prompt → output.</a:t>
            </a:r>
          </a:p>
          <a:p>
            <a:pPr algn="l">
              <a:spcBef>
                <a:spcPts val="2000"/>
              </a:spcBef>
              <a:spcAft>
                <a:spcPts val="600"/>
              </a:spcAft>
            </a:pPr>
            <a:r>
              <a:rPr sz="1600" b="1">
                <a:solidFill>
                  <a:srgbClr val="0A1F44"/>
                </a:solidFill>
                <a:latin typeface="Helvetica Neue"/>
              </a:rPr>
              <a:t>Multi-agent mode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0">
                <a:solidFill>
                  <a:srgbClr val="1C1C1E"/>
                </a:solidFill>
                <a:latin typeface="Helvetica Neue"/>
              </a:rPr>
              <a:t>4 LLM calls. 3 specialists in parallel + 1 orchestrator.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100" b="0">
                <a:solidFill>
                  <a:srgbClr val="6B6B70"/>
                </a:solidFill>
                <a:latin typeface="Helvetica Neue"/>
              </a:rPr>
              <a:t>Health Insight Agent  ·  Slide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164592" bIns="0"/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7772400" cy="64008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6B6B70"/>
                </a:solidFill>
                <a:latin typeface="Helvetica Neue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89888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C1C1E"/>
                </a:solidFill>
                <a:latin typeface="Helvetica Neue"/>
              </a:rPr>
              <a:t>Native iOS app  ·  SwiftUI  ·  iOS 17+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6B6B70"/>
                </a:solidFill>
                <a:latin typeface="Helvetica Neue"/>
              </a:rP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29968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C1C1E"/>
                </a:solidFill>
                <a:latin typeface="Helvetica Neue"/>
              </a:rPr>
              <a:t>GPT-4o-mini via OpenAI Chat Completions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7772400" cy="64008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6B6B70"/>
                </a:solidFill>
                <a:latin typeface="Helvetica Neue"/>
              </a:rPr>
              <a:t>Networking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70048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C1C1E"/>
                </a:solidFill>
                <a:latin typeface="Helvetica Neue"/>
              </a:rPr>
              <a:t>Pure URLSession, no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6B6B70"/>
                </a:solidFill>
                <a:latin typeface="Helvetica Neue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310128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C1C1E"/>
                </a:solidFill>
                <a:latin typeface="Helvetica Neue"/>
              </a:rPr>
              <a:t>7 days of self-tracked data (Apr 19–25, 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772400" cy="64008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5020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6B6B70"/>
                </a:solidFill>
                <a:latin typeface="Helvetica Neue"/>
              </a:rPr>
              <a:t>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950208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C1C1E"/>
                </a:solidFill>
                <a:latin typeface="Helvetica Neue"/>
              </a:rPr>
              <a:t>Macros (food log) · Workouts (split + main lift) · Garmin (HRV, body battery, training readiness)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1280160"/>
            <a:ext cx="3108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7C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6B6B70"/>
                </a:solidFill>
                <a:latin typeface="Helvetica Neue"/>
              </a:rPr>
              <a:t>[App screenshot]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100" b="0">
                <a:solidFill>
                  <a:srgbClr val="6B6B70"/>
                </a:solidFill>
                <a:latin typeface="Helvetica Neue"/>
              </a:rPr>
              <a:t>Drop in the segmented control + insights card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100" b="0">
                <a:solidFill>
                  <a:srgbClr val="6B6B70"/>
                </a:solidFill>
                <a:latin typeface="Helvetica Neue"/>
              </a:rPr>
              <a:t>Health Insight Agent  ·  Slide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164592" bIns="0"/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Results</a:t>
            </a:r>
          </a:p>
          <a:p>
            <a:pPr algn="l"/>
            <a:r>
              <a:rPr sz="1300">
                <a:solidFill>
                  <a:srgbClr val="C4CCDB"/>
                </a:solidFill>
                <a:latin typeface="Helvetica Neue"/>
              </a:rPr>
              <a:t>n=5 generations per mode  ·  GPT-4o-mini  ·  temp 0.4  ·  identical 7-day dataset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0241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01752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 marL="164592" marR="164592" marT="45720" marB="45720" anchor="ctr">
                    <a:solidFill>
                      <a:srgbClr val="0A1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Single-Shot</a:t>
                      </a:r>
                    </a:p>
                  </a:txBody>
                  <a:tcPr marL="164592" marR="164592" marT="45720" marB="45720" anchor="ctr">
                    <a:solidFill>
                      <a:srgbClr val="0A1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Multi-Agent</a:t>
                      </a:r>
                    </a:p>
                  </a:txBody>
                  <a:tcPr marL="164592" marR="164592" marT="45720" marB="45720" anchor="ctr">
                    <a:solidFill>
                      <a:srgbClr val="0A1F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Grounding rate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8A42"/>
                          </a:solidFill>
                          <a:latin typeface="Helvetica Neue"/>
                        </a:rPr>
                        <a:t>100%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8A42"/>
                          </a:solidFill>
                          <a:latin typeface="Helvetica Neue"/>
                        </a:rPr>
                        <a:t>100%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Cross-domain integration rate</a:t>
                      </a:r>
                    </a:p>
                  </a:txBody>
                  <a:tcPr marL="164592" marR="164592" marT="45720" marB="45720" anchor="ctr">
                    <a:solidFill>
                      <a:srgbClr val="F2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76%  (range 40–100%)</a:t>
                      </a:r>
                    </a:p>
                  </a:txBody>
                  <a:tcPr marL="164592" marR="164592" marT="45720" marB="45720" anchor="ctr">
                    <a:solidFill>
                      <a:srgbClr val="F2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C1C1E"/>
                          </a:solidFill>
                          <a:latin typeface="Helvetica Neue"/>
                        </a:rPr>
                        <a:t>100%  (no variance)</a:t>
                      </a:r>
                    </a:p>
                  </a:txBody>
                  <a:tcPr marL="164592" marR="164592" marT="45720" marB="45720" anchor="ctr">
                    <a:solidFill>
                      <a:srgbClr val="F2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Total tokens (mean)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1352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3603  (2.66×)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Wall-clock latency (mean)</a:t>
                      </a:r>
                    </a:p>
                  </a:txBody>
                  <a:tcPr marL="164592" marR="164592" marT="45720" marB="45720" anchor="ctr">
                    <a:solidFill>
                      <a:srgbClr val="F2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9.80s</a:t>
                      </a:r>
                    </a:p>
                  </a:txBody>
                  <a:tcPr marL="164592" marR="164592" marT="45720" marB="45720" anchor="ctr">
                    <a:solidFill>
                      <a:srgbClr val="F2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13.90s  (1.42×)</a:t>
                      </a:r>
                    </a:p>
                  </a:txBody>
                  <a:tcPr marL="164592" marR="164592" marT="45720" marB="45720" anchor="ctr">
                    <a:solidFill>
                      <a:srgbClr val="F2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LLM calls / generation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E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164592" marR="16459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8348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6B6B70"/>
                </a:solidFill>
                <a:latin typeface="Helvetica Neue"/>
              </a:rPr>
              <a:t>Headline finding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Helvetica Neue"/>
              </a:rPr>
              <a:t>Both architectures hit 100% grounding (no hallucinated values). </a:t>
            </a:r>
            <a:r>
              <a:rPr sz="1500" b="1">
                <a:solidFill>
                  <a:srgbClr val="0A1F44"/>
                </a:solidFill>
                <a:latin typeface="Helvetica Neue"/>
              </a:rPr>
              <a:t>Multi-agent's win is consistency on cross-domain integration</a:t>
            </a:r>
            <a:r>
              <a:rPr sz="1500" b="0">
                <a:solidFill>
                  <a:srgbClr val="1C1C1E"/>
                </a:solidFill>
                <a:latin typeface="Helvetica Neue"/>
              </a:rPr>
              <a:t> — it never dropped below 100%, while single-shot had one run at 40%. Cost: 2.66× tokens, 1.42× latency.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100" b="0">
                <a:solidFill>
                  <a:srgbClr val="6B6B70"/>
                </a:solidFill>
                <a:latin typeface="Helvetica Neue"/>
              </a:rPr>
              <a:t>Health Insight Agent  ·  Slide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164592" bIns="0"/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Future Directions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444752"/>
            <a:ext cx="457200" cy="4572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1F44"/>
                </a:solidFill>
                <a:latin typeface="Helvetica Neue"/>
              </a:rPr>
              <a:t>Scale up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C1C1E"/>
                </a:solidFill>
                <a:latin typeface="Helvetica Neue"/>
              </a:rPr>
              <a:t>Evaluate on public datasets (LifeSnaps, MyHeart Counts) across many users.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59152"/>
            <a:ext cx="457200" cy="4572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1F44"/>
                </a:solidFill>
                <a:latin typeface="Helvetica Neue"/>
              </a:rPr>
              <a:t>Clinical validation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C1C1E"/>
                </a:solidFill>
                <a:latin typeface="Helvetica Neue"/>
              </a:rPr>
              <a:t>Pair LLM outputs with clinician annotation for correctness, not just grounding.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1089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1F44"/>
                </a:solidFill>
                <a:latin typeface="Helvetica Neue"/>
              </a:rPr>
              <a:t>Adaptive routing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C1C1E"/>
                </a:solidFill>
                <a:latin typeface="Helvetica Neue"/>
              </a:rPr>
              <a:t>Dynamically choose which specialists to invoke based on user query.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0233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1F44"/>
                </a:solidFill>
                <a:latin typeface="Helvetica Neue"/>
              </a:rPr>
              <a:t>On-device inference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C1C1E"/>
                </a:solidFill>
                <a:latin typeface="Helvetica Neue"/>
              </a:rPr>
              <a:t>Swap GPT-4o-mini for Apple's Foundation Models framework — privacy-preserving deployment.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102352"/>
            <a:ext cx="457200" cy="4572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377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1F44"/>
                </a:solidFill>
                <a:latin typeface="Helvetica Neue"/>
              </a:rPr>
              <a:t>Persistent memory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C1C1E"/>
                </a:solidFill>
                <a:latin typeface="Helvetica Neue"/>
              </a:rPr>
              <a:t>Cross-session insight tracking ("did you act on last week's recommendation?").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100" b="0">
                <a:solidFill>
                  <a:srgbClr val="6B6B70"/>
                </a:solidFill>
                <a:latin typeface="Helvetica Neue"/>
              </a:rPr>
              <a:t>Health Insight Agent  ·  Slide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0A1F44"/>
                </a:solidFill>
                <a:latin typeface="Helvetica Neue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C1C1E"/>
                </a:solidFill>
                <a:latin typeface="Helvetica Neue"/>
              </a:rPr>
              <a:t>Jerome Zhang</a:t>
            </a:r>
            <a:r>
              <a:rPr sz="1800" b="0">
                <a:solidFill>
                  <a:srgbClr val="6B6B70"/>
                </a:solidFill>
                <a:latin typeface="Helvetica Neue"/>
              </a:rPr>
              <a:t>   ·   MSAI High-Risk Project   ·   Spring 2026</a:t>
            </a:r>
          </a:p>
          <a:p>
            <a:pPr algn="l">
              <a:spcBef>
                <a:spcPts val="1800"/>
              </a:spcBef>
              <a:spcAft>
                <a:spcPts val="600"/>
              </a:spcAft>
            </a:pPr>
            <a:r>
              <a:rPr sz="1600" b="0">
                <a:solidFill>
                  <a:srgbClr val="1C1C1E"/>
                </a:solidFill>
                <a:latin typeface="Helvetica Neue"/>
              </a:rPr>
              <a:t>Code &amp; report:  </a:t>
            </a:r>
            <a:r>
              <a:rPr sz="1600" b="0">
                <a:solidFill>
                  <a:srgbClr val="006EE6"/>
                </a:solidFill>
                <a:latin typeface="Menlo"/>
              </a:rPr>
              <a:t>https://github.com/jeromez0/health-insight-agent</a:t>
            </a:r>
          </a:p>
          <a:p>
            <a:pPr algn="l">
              <a:spcBef>
                <a:spcPts val="1800"/>
              </a:spcBef>
              <a:spcAft>
                <a:spcPts val="600"/>
              </a:spcAft>
            </a:pPr>
            <a:r>
              <a:rPr sz="1800" b="0">
                <a:solidFill>
                  <a:srgbClr val="6B6B70"/>
                </a:solidFill>
                <a:latin typeface="Helvetica Neue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